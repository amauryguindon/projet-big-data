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Accroche (30 sec) :</a:t>
            </a:r>
          </a:p>
          <a:p/>
          <a:p>
            <a:r>
              <a:rPr sz="1300">
                <a:latin typeface="Calibri"/>
              </a:rPr>
              <a:t>Bonjour, je suis Amaury Guindon, étudiant en M1 Big Data IA. Je vais vous présenter mon projet de fin de module : une plateforme distribuée d'ingestion et d'analyse de données massives, construite autour de trois briques : Apache Cassandra, un stockage objet S3, et Docker.</a:t>
            </a:r>
          </a:p>
          <a:p/>
          <a:p>
            <a:r>
              <a:rPr sz="1300">
                <a:latin typeface="Calibri"/>
              </a:rPr>
              <a:t>Objectif de la présentation : démontrer la maîtrise des concepts Big Data — modélisation NoSQL, scalabilité, théorème CAP — appliqués à un cas concret et reproductible.</a:t>
            </a:r>
          </a:p>
          <a:p/>
          <a:p>
            <a:r>
              <a:rPr sz="1300">
                <a:latin typeface="Calibri"/>
              </a:rPr>
              <a:t>Durée prévue : environ 15 minutes + démo +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Annoncer rapidement le plan (1 min) :</a:t>
            </a:r>
          </a:p>
          <a:p/>
          <a:p>
            <a:r>
              <a:rPr sz="1300">
                <a:latin typeface="Calibri"/>
              </a:rPr>
              <a:t>Je vais structurer la présentation en quatre temps :</a:t>
            </a:r>
          </a:p>
          <a:p>
            <a:r>
              <a:rPr sz="1300">
                <a:latin typeface="Calibri"/>
              </a:rPr>
              <a:t>1) Le contexte et les choix techniques (slides 3 à 7)</a:t>
            </a:r>
          </a:p>
          <a:p>
            <a:r>
              <a:rPr sz="1300">
                <a:latin typeface="Calibri"/>
              </a:rPr>
              <a:t>2) La modélisation Cassandra concrète (slides 8 à 9)</a:t>
            </a:r>
          </a:p>
          <a:p>
            <a:r>
              <a:rPr sz="1300">
                <a:latin typeface="Calibri"/>
              </a:rPr>
              <a:t>3) Les fondements théoriques — 5V et CAP (slides 10 à 11)</a:t>
            </a:r>
          </a:p>
          <a:p>
            <a:r>
              <a:rPr sz="1300">
                <a:latin typeface="Calibri"/>
              </a:rPr>
              <a:t>4) La démo, l'analyse critique et les perspectives (slides 12 à 16)</a:t>
            </a:r>
          </a:p>
          <a:p/>
          <a:p>
            <a:r>
              <a:rPr sz="1300">
                <a:latin typeface="Calibri"/>
              </a:rPr>
              <a:t>Je termine par les questions. Ne pas hésiter à m'interrompre.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Poser le problème métier (1 min 30) :</a:t>
            </a:r>
          </a:p>
          <a:p/>
          <a:p>
            <a:r>
              <a:rPr sz="1300">
                <a:latin typeface="Calibri"/>
              </a:rPr>
              <a:t>Imaginer une entreprise qui vend en ligne et qui gère un catalogue mode. Elle reçoit en continu trois types de données très différents : des transactions structurées (CSV), un catalogue produits qui évolue (JSON), et des images de produits (binaires).</a:t>
            </a:r>
          </a:p>
          <a:p/>
          <a:p>
            <a:r>
              <a:rPr sz="1300">
                <a:latin typeface="Calibri"/>
              </a:rPr>
              <a:t>Insister sur les 5 verbes :</a:t>
            </a:r>
          </a:p>
          <a:p>
            <a:r>
              <a:rPr sz="1300">
                <a:latin typeface="Calibri"/>
              </a:rPr>
              <a:t>- Collecter du hétérogène → impose un pipeline multi-format</a:t>
            </a:r>
          </a:p>
          <a:p>
            <a:r>
              <a:rPr sz="1300">
                <a:latin typeface="Calibri"/>
              </a:rPr>
              <a:t>- Stocker scalable → impose une base distribuée, pas un SGBDR</a:t>
            </a:r>
          </a:p>
          <a:p>
            <a:r>
              <a:rPr sz="1300">
                <a:latin typeface="Calibri"/>
              </a:rPr>
              <a:t>- Interroger rapidement → impose un modèle orienté requêtes</a:t>
            </a:r>
          </a:p>
          <a:p>
            <a:r>
              <a:rPr sz="1300">
                <a:latin typeface="Calibri"/>
              </a:rPr>
              <a:t>- Disponibilité → impose la tolérance aux pannes</a:t>
            </a:r>
          </a:p>
          <a:p>
            <a:r>
              <a:rPr sz="1300">
                <a:latin typeface="Calibri"/>
              </a:rPr>
              <a:t>- Reproductibilité → impose la conteneurisation</a:t>
            </a:r>
          </a:p>
          <a:p/>
          <a:p>
            <a:r>
              <a:rPr sz="1300">
                <a:latin typeface="Calibri"/>
              </a:rPr>
              <a:t>Chacun de ces verbes va justifier un choix technique sur les slides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Transition rapide (45 sec) :</a:t>
            </a:r>
          </a:p>
          <a:p/>
          <a:p>
            <a:r>
              <a:rPr sz="1300">
                <a:latin typeface="Calibri"/>
              </a:rPr>
              <a:t>Pour répondre à ces besoins, le projet livre concrètement quatre choses :</a:t>
            </a:r>
          </a:p>
          <a:p/>
          <a:p>
            <a:r>
              <a:rPr sz="1300">
                <a:latin typeface="Calibri"/>
              </a:rPr>
              <a:t>1) Une architecture cohérente — pas juste une base, mais un pipeline complet</a:t>
            </a:r>
          </a:p>
          <a:p>
            <a:r>
              <a:rPr sz="1300">
                <a:latin typeface="Calibri"/>
              </a:rPr>
              <a:t>2) Un modèle Cassandra rigoureux, orienté requêtes (point différenciant vs SQL)</a:t>
            </a:r>
          </a:p>
          <a:p>
            <a:r>
              <a:rPr sz="1300">
                <a:latin typeface="Calibri"/>
              </a:rPr>
              <a:t>3) Un stockage cloud — MinIO en local, AWS S3 en prod, même code</a:t>
            </a:r>
          </a:p>
          <a:p>
            <a:r>
              <a:rPr sz="1300">
                <a:latin typeface="Calibri"/>
              </a:rPr>
              <a:t>4) Un déploiement reproductible — une seule commande Docker</a:t>
            </a:r>
          </a:p>
          <a:p/>
          <a:p>
            <a:r>
              <a:rPr sz="1300">
                <a:latin typeface="Calibri"/>
              </a:rPr>
              <a:t>Et au-delà du code, une argumentation théorique : les 5V et le théorème CAP.</a:t>
            </a:r>
          </a:p>
          <a:p/>
          <a:p>
            <a:r>
              <a:rPr sz="1300">
                <a:latin typeface="Calibri"/>
              </a:rPr>
              <a:t>On va maintenant entrer dans le détail de l'architecture.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Présenter le schéma de gauche à droite (1 min 30) :</a:t>
            </a:r>
          </a:p>
          <a:p/>
          <a:p>
            <a:r>
              <a:rPr sz="1300">
                <a:latin typeface="Calibri"/>
              </a:rPr>
              <a:t>Tout est dans le cadre Docker — c'est le point clé : un évaluateur lance 'docker compose up' et tout démarre.</a:t>
            </a:r>
          </a:p>
          <a:p/>
          <a:p>
            <a:r>
              <a:rPr sz="1300">
                <a:latin typeface="Calibri"/>
              </a:rPr>
              <a:t>À gauche : les trois sources, les trois formats du périmètre (CSV, JSON, JPG).</a:t>
            </a:r>
          </a:p>
          <a:p/>
          <a:p>
            <a:r>
              <a:rPr sz="1300">
                <a:latin typeface="Calibri"/>
              </a:rPr>
              <a:t>Au centre : le service d'ingestion Python. C'est lui qui lit, valide, convertit, et distribue vers deux destinations.</a:t>
            </a:r>
          </a:p>
          <a:p/>
          <a:p>
            <a:r>
              <a:rPr sz="1300">
                <a:latin typeface="Calibri"/>
              </a:rPr>
              <a:t>À droite, deux destinations complémentaires :</a:t>
            </a:r>
          </a:p>
          <a:p>
            <a:r>
              <a:rPr sz="1300">
                <a:latin typeface="Calibri"/>
              </a:rPr>
              <a:t>- Cassandra → données 'chaudes' interrogeables en CQL</a:t>
            </a:r>
          </a:p>
          <a:p>
            <a:r>
              <a:rPr sz="1300">
                <a:latin typeface="Calibri"/>
              </a:rPr>
              <a:t>- MinIO (S3) → données 'froides', archives, raw zone</a:t>
            </a:r>
          </a:p>
          <a:p/>
          <a:p>
            <a:r>
              <a:rPr sz="1300">
                <a:latin typeface="Calibri"/>
              </a:rPr>
              <a:t>Pourquoi les deux ? Parce qu'on sépare stockage et calcul — principe fondamental d'une plateforme Big Data. Si demain on veut rejouer le pipeline avec un nouveau modèle Cassandra, on n'a pas besoin de redemander les données aux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Détail du pipeline (1 min) :</a:t>
            </a:r>
          </a:p>
          <a:p/>
          <a:p>
            <a:r>
              <a:rPr sz="1300">
                <a:latin typeface="Calibri"/>
              </a:rPr>
              <a:t>Cinq étapes, classiques d'un ETL :</a:t>
            </a:r>
          </a:p>
          <a:p/>
          <a:p>
            <a:r>
              <a:rPr sz="1300">
                <a:latin typeface="Calibri"/>
              </a:rPr>
              <a:t>1) Lecture en streaming — on ne charge pas tout en RAM</a:t>
            </a:r>
          </a:p>
          <a:p>
            <a:r>
              <a:rPr sz="1300">
                <a:latin typeface="Calibri"/>
              </a:rPr>
              <a:t>2) Parsing typé — conversion des dates, des décimaux, gestion des nulls</a:t>
            </a:r>
          </a:p>
          <a:p>
            <a:r>
              <a:rPr sz="1300">
                <a:latin typeface="Calibri"/>
              </a:rPr>
              <a:t>3) Préparation en batch de 100 lignes — amortit le coût réseau</a:t>
            </a:r>
          </a:p>
          <a:p>
            <a:r>
              <a:rPr sz="1300">
                <a:latin typeface="Calibri"/>
              </a:rPr>
              <a:t>4) Insertion Cassandra avec BatchStatement</a:t>
            </a:r>
          </a:p>
          <a:p>
            <a:r>
              <a:rPr sz="1300">
                <a:latin typeface="Calibri"/>
              </a:rPr>
              <a:t>5) En parallèle : upload du fichier brut vers MinIO</a:t>
            </a:r>
          </a:p>
          <a:p/>
          <a:p>
            <a:r>
              <a:rPr sz="1300">
                <a:latin typeface="Calibri"/>
              </a:rPr>
              <a:t>Point important : c'est un job 'one-shot'. Il s'exécute, ingère, et s'arrête. Pour un MVP c'est suffisant. En production on remplacerait ça par un consommateur Kafka — sans toucher au modèle Cassandra. C'est ça la force du modèle orienté requêtes : il découple le pipeline d'ingestion du stockage.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Parcourir les 4 colonnes (1 min 30) :</a:t>
            </a:r>
          </a:p>
          <a:p/>
          <a:p>
            <a:r>
              <a:rPr sz="1300">
                <a:latin typeface="Calibri"/>
              </a:rPr>
              <a:t>CASSANDRA — pourquoi pas PostgreSQL ?</a:t>
            </a:r>
          </a:p>
          <a:p>
            <a:r>
              <a:rPr sz="1300">
                <a:latin typeface="Calibri"/>
              </a:rPr>
              <a:t>Parce qu'au-delà d'un certain volume, un SGBDR ne scale plus horizontalement de manière transparente. Cassandra a été pensée pour ça dès l'origine, par Facebook puis Apache.</a:t>
            </a:r>
          </a:p>
          <a:p/>
          <a:p>
            <a:r>
              <a:rPr sz="1300">
                <a:latin typeface="Calibri"/>
              </a:rPr>
              <a:t>MINIO — pourquoi pas un simple disque ?</a:t>
            </a:r>
          </a:p>
          <a:p>
            <a:r>
              <a:rPr sz="1300">
                <a:latin typeface="Calibri"/>
              </a:rPr>
              <a:t>Parce qu'un Data Lake doit gérer le téraoctet et accepter une API standard. MinIO parle S3 — donc bascule vers AWS sans changer une ligne de code applicatif. Juste S3_ENDPOINT_URL à neutraliser.</a:t>
            </a:r>
          </a:p>
          <a:p/>
          <a:p>
            <a:r>
              <a:rPr sz="1300">
                <a:latin typeface="Calibri"/>
              </a:rPr>
              <a:t>PYTHON — pourquoi pas Java ou Scala ?</a:t>
            </a:r>
          </a:p>
          <a:p>
            <a:r>
              <a:rPr sz="1300">
                <a:latin typeface="Calibri"/>
              </a:rPr>
              <a:t>Pour le MVP, le coût d'entrée est minimal et les drivers sont excellents. En production on pourrait passer à Spark.</a:t>
            </a:r>
          </a:p>
          <a:p/>
          <a:p>
            <a:r>
              <a:rPr sz="1300">
                <a:latin typeface="Calibri"/>
              </a:rPr>
              <a:t>DOCKER — pourquoi pas une install native ?</a:t>
            </a:r>
          </a:p>
          <a:p>
            <a:r>
              <a:rPr sz="1300">
                <a:latin typeface="Calibri"/>
              </a:rPr>
              <a:t>Parce que le cahier des charges impose la reproductibilité. Docker Compose orchestre l'ordre de démarrage avec les healthchecks — ingestor ne démarre que quand Cassandra est prête.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Point central — bien expliquer (2 min) :</a:t>
            </a:r>
          </a:p>
          <a:p/>
          <a:p>
            <a:r>
              <a:rPr sz="1300">
                <a:latin typeface="Calibri"/>
              </a:rPr>
              <a:t>La grosse différence avec SQL : en Cassandra on ne part PAS des entités, on part des REQUÊTES.</a:t>
            </a:r>
          </a:p>
          <a:p/>
          <a:p>
            <a:r>
              <a:rPr sz="1300">
                <a:latin typeface="Calibri"/>
              </a:rPr>
              <a:t>Trois requêtes métier → trois tables :</a:t>
            </a:r>
          </a:p>
          <a:p/>
          <a:p>
            <a:r>
              <a:rPr sz="1300">
                <a:latin typeface="Calibri"/>
              </a:rPr>
              <a:t>TABLE 1 — sales_by_country_month</a:t>
            </a:r>
          </a:p>
          <a:p>
            <a:r>
              <a:rPr sz="1300">
                <a:latin typeface="Calibri"/>
              </a:rPr>
              <a:t>Pour répondre à 'ventes d'un pays sur un mois'. PK = (country, year_month). Toutes les ventes d'un même pays/mois sont co-localisées sur le même nœud → une seule partition lue.</a:t>
            </a:r>
          </a:p>
          <a:p/>
          <a:p>
            <a:r>
              <a:rPr sz="1300">
                <a:latin typeface="Calibri"/>
              </a:rPr>
              <a:t>TABLE 2 — products_by_brand_availability</a:t>
            </a:r>
          </a:p>
          <a:p>
            <a:r>
              <a:rPr sz="1300">
                <a:latin typeface="Calibri"/>
              </a:rPr>
              <a:t>PK = (brand, out_of_stock). Cas d'usage : service de réapprovisionnement qui veut tous les produits en rupture d'une marque.</a:t>
            </a:r>
          </a:p>
          <a:p/>
          <a:p>
            <a:r>
              <a:rPr sz="1300">
                <a:latin typeface="Calibri"/>
              </a:rPr>
              <a:t>TABLE 3 — image_metadata_by_category_gender</a:t>
            </a:r>
          </a:p>
          <a:p>
            <a:r>
              <a:rPr sz="1300">
                <a:latin typeface="Calibri"/>
              </a:rPr>
              <a:t>Le binaire vit dans S3, Cassandra stocke juste la clé S3 + les métadonnées. Pattern classique : métadonnées chaudes / binaires froids.</a:t>
            </a:r>
          </a:p>
          <a:p/>
          <a:p>
            <a:r>
              <a:rPr sz="1300">
                <a:latin typeface="Calibri"/>
              </a:rPr>
              <a:t>Réplication : SimpleStrategy RF=1 en dev (mono-nœud), NetworkTopologyStrategy RF=3 en prod multi-DC.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Illustrer concrètement (1 min) :</a:t>
            </a:r>
          </a:p>
          <a:p/>
          <a:p>
            <a:r>
              <a:rPr sz="1300">
                <a:latin typeface="Calibri"/>
              </a:rPr>
              <a:t>On clause WHERE sur les deux composantes de la clé de partition : country ET year_month. Cassandra exige cela — sans la PK complète, la requête ne passe pas (sauf à utiliser ALLOW FILTERING, qu'on évite).</a:t>
            </a:r>
          </a:p>
          <a:p/>
          <a:p>
            <a:r>
              <a:rPr sz="1300">
                <a:latin typeface="Calibri"/>
              </a:rPr>
              <a:t>Trois propriétés à souligner :</a:t>
            </a:r>
          </a:p>
          <a:p/>
          <a:p>
            <a:r>
              <a:rPr sz="1300">
                <a:latin typeface="Calibri"/>
              </a:rPr>
              <a:t>1) Une seule partition ciblée → latence quasi constante en millisecondes, même avec un milliard de lignes en base.</a:t>
            </a:r>
          </a:p>
          <a:p/>
          <a:p>
            <a:r>
              <a:rPr sz="1300">
                <a:latin typeface="Calibri"/>
              </a:rPr>
              <a:t>2) Tri automatique grâce à CLUSTERING ORDER BY invoice_date DESC. Pas besoin d'ORDER BY applicatif — c'est gratuit.</a:t>
            </a:r>
          </a:p>
          <a:p/>
          <a:p>
            <a:r>
              <a:rPr sz="1300">
                <a:latin typeface="Calibri"/>
              </a:rPr>
              <a:t>3) Cette latence ne dégrade PAS quand le volume total augmente. C'est la grosse différence avec un SGBDR où la latence croît avec la taille de la table.</a:t>
            </a:r>
          </a:p>
          <a:p/>
          <a:p>
            <a:r>
              <a:rPr sz="1300">
                <a:latin typeface="Calibri"/>
              </a:rPr>
              <a:t>Si on demande pourquoi pas un index ? → un index secondaire Cassandra scanne potentiellement tous les nœuds. Mauvaise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Cadre théorique — rapide (1 min) :</a:t>
            </a:r>
          </a:p>
          <a:p/>
          <a:p>
            <a:r>
              <a:rPr sz="1300">
                <a:latin typeface="Calibri"/>
              </a:rPr>
              <a:t>Les 5V sont le canon pour caractériser un projet Big Data. Mon projet adresse chacun :</a:t>
            </a:r>
          </a:p>
          <a:p/>
          <a:p>
            <a:r>
              <a:rPr sz="1300">
                <a:latin typeface="Calibri"/>
              </a:rPr>
              <a:t>VOLUME — Cassandra + S3 dimensionnés au téraoctet. Les limites actuelles (CSV_LIMIT, etc.) sont des garde-fous, pas des plafonds.</a:t>
            </a:r>
          </a:p>
          <a:p/>
          <a:p>
            <a:r>
              <a:rPr sz="1300">
                <a:latin typeface="Calibri"/>
              </a:rPr>
              <a:t>VÉLOCITÉ — Pour l'instant batch, mais batch optimisé (BatchStatement par 100). Migration vers Kafka possible sans refonte.</a:t>
            </a:r>
          </a:p>
          <a:p/>
          <a:p>
            <a:r>
              <a:rPr sz="1300">
                <a:latin typeface="Calibri"/>
              </a:rPr>
              <a:t>VARIÉTÉ — c'est le V le plus visible : 3 formats, 3 pipelines, 3 tables.</a:t>
            </a:r>
          </a:p>
          <a:p/>
          <a:p>
            <a:r>
              <a:rPr sz="1300">
                <a:latin typeface="Calibri"/>
              </a:rPr>
              <a:t>VÉRACITÉ — parsing défensif côté ingestion + conservation des données brutes sur S3 → on peut TOUJOURS rejouer.</a:t>
            </a:r>
          </a:p>
          <a:p/>
          <a:p>
            <a:r>
              <a:rPr sz="1300">
                <a:latin typeface="Calibri"/>
              </a:rPr>
              <a:t>VALEUR — les tables ne sont pas neutres, elles répondent à des questions métier précises. C'est la finalité.</a:t>
            </a:r>
          </a:p>
          <a:p/>
          <a:p>
            <a:r>
              <a:rPr sz="1300">
                <a:latin typeface="Calibri"/>
              </a:rPr>
              <a:t>Transition : 'parmi ces 5V, le plus délicat reste la disponibilité — c'est ce qui mène au théorème CAP'.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Théorème CAP — point sensible aux questions du jury (1 min 30) :</a:t>
            </a:r>
          </a:p>
          <a:p/>
          <a:p>
            <a:r>
              <a:rPr sz="1300">
                <a:latin typeface="Calibri"/>
              </a:rPr>
              <a:t>Brewer (2000) : dans un système distribué, on ne peut garantir simultanément que 2 propriétés sur 3 : Consistency, Availability, Partition tolerance.</a:t>
            </a:r>
          </a:p>
          <a:p/>
          <a:p>
            <a:r>
              <a:rPr sz="1300">
                <a:latin typeface="Calibri"/>
              </a:rPr>
              <a:t>La partition réseau est inévitable dans un système distribué — donc le vrai choix est entre C et A.</a:t>
            </a:r>
          </a:p>
          <a:p/>
          <a:p>
            <a:r>
              <a:rPr sz="1300">
                <a:latin typeface="Calibri"/>
              </a:rPr>
              <a:t>Cassandra a CHOISI A. Quand un nœud n'arrive plus à parler à un autre, il continue de servir avec ce qu'il sait. La cohérence se rétablit ensuite (eventual consistency, via read repair et hinted handoff).</a:t>
            </a:r>
          </a:p>
          <a:p/>
          <a:p>
            <a:r>
              <a:rPr sz="1300">
                <a:latin typeface="Calibri"/>
              </a:rPr>
              <a:t>Important — Cassandra est NUANCÉ : on peut régler la cohérence par REQUÊTE avec les Consistency Levels :</a:t>
            </a:r>
          </a:p>
          <a:p>
            <a:r>
              <a:rPr sz="1300">
                <a:latin typeface="Calibri"/>
              </a:rPr>
              <a:t>  • ONE → max disponibilité, cohérence faible</a:t>
            </a:r>
          </a:p>
          <a:p>
            <a:r>
              <a:rPr sz="1300">
                <a:latin typeface="Calibri"/>
              </a:rPr>
              <a:t>  • QUORUM → équilibre (majorité de nœuds doivent confirmer)</a:t>
            </a:r>
          </a:p>
          <a:p>
            <a:r>
              <a:rPr sz="1300">
                <a:latin typeface="Calibri"/>
              </a:rPr>
              <a:t>  • ALL → cohérence forte, mais plus fragile</a:t>
            </a:r>
          </a:p>
          <a:p/>
          <a:p>
            <a:r>
              <a:rPr sz="1300">
                <a:latin typeface="Calibri"/>
              </a:rPr>
              <a:t>Pour un service de collecte d'événements, A &gt; C : il vaut mieux une donnée légèrement décalée qu'un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Démo live (3 min — PRÉPARER À L'AVANCE) :</a:t>
            </a:r>
          </a:p>
          <a:p/>
          <a:p>
            <a:r>
              <a:rPr sz="1300">
                <a:latin typeface="Calibri"/>
              </a:rPr>
              <a:t>AVANT LA SOUTENANCE :</a:t>
            </a:r>
          </a:p>
          <a:p>
            <a:r>
              <a:rPr sz="1300">
                <a:latin typeface="Calibri"/>
              </a:rPr>
              <a:t>- Faire un 'docker compose down -v' pour repartir propre</a:t>
            </a:r>
          </a:p>
          <a:p>
            <a:r>
              <a:rPr sz="1300">
                <a:latin typeface="Calibri"/>
              </a:rPr>
              <a:t>- Avoir un terminal PowerShell ouvert dans le dossier projet</a:t>
            </a:r>
          </a:p>
          <a:p>
            <a:r>
              <a:rPr sz="1300">
                <a:latin typeface="Calibri"/>
              </a:rPr>
              <a:t>- Avoir le navigateur prêt sur http://localhost:9001</a:t>
            </a:r>
          </a:p>
          <a:p/>
          <a:p>
            <a:r>
              <a:rPr sz="1300">
                <a:latin typeface="Calibri"/>
              </a:rPr>
              <a:t>DÉROULÉ :</a:t>
            </a:r>
          </a:p>
          <a:p/>
          <a:p>
            <a:r>
              <a:rPr sz="1300">
                <a:latin typeface="Calibri"/>
              </a:rPr>
              <a:t>1) Lancer 'docker compose up --build' (peut prendre ~1 min au premier lancement à cause du pull Cassandra) — pendant ce temps, on peut continuer à expliquer.</a:t>
            </a:r>
          </a:p>
          <a:p/>
          <a:p>
            <a:r>
              <a:rPr sz="1300">
                <a:latin typeface="Calibri"/>
              </a:rPr>
              <a:t>2) Montrer les logs : on voit Cassandra ready → init schema → ingestor démarre → uploads S3 puis batches Cassandra.</a:t>
            </a:r>
          </a:p>
          <a:p/>
          <a:p>
            <a:r>
              <a:rPr sz="1300">
                <a:latin typeface="Calibri"/>
              </a:rPr>
              <a:t>3) Ouvrir cqlsh dans Cassandra et lancer un COUNT(*) pour montrer que les données sont bien là.</a:t>
            </a:r>
          </a:p>
          <a:p/>
          <a:p>
            <a:r>
              <a:rPr sz="1300">
                <a:latin typeface="Calibri"/>
              </a:rPr>
              <a:t>4) Lancer la requête métier (slide 9) en direct → résultat instantané.</a:t>
            </a:r>
          </a:p>
          <a:p/>
          <a:p>
            <a:r>
              <a:rPr sz="1300">
                <a:latin typeface="Calibri"/>
              </a:rPr>
              <a:t>5) Bascule sur la console MinIO → montrer le bucket bigdata-raw avec les 3 zones (structured / semi_structured / non_structured) + les images.</a:t>
            </a:r>
          </a:p>
          <a:p/>
          <a:p>
            <a:r>
              <a:rPr sz="1300">
                <a:latin typeface="Calibri"/>
              </a:rPr>
              <a:t>PLAN B : si la démo coince, screenshots de secours dans le dossier rapport/.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Récapitulatif quantitatif (45 sec) :</a:t>
            </a:r>
          </a:p>
          <a:p/>
          <a:p>
            <a:r>
              <a:rPr sz="1300">
                <a:latin typeface="Calibri"/>
              </a:rPr>
              <a:t>Quelques chiffres clés pour résumer ce qui est livré :</a:t>
            </a:r>
          </a:p>
          <a:p/>
          <a:p>
            <a:r>
              <a:rPr sz="1300">
                <a:latin typeface="Calibri"/>
              </a:rPr>
              <a:t>- 3 familles de données couvertes (structuré / semi / non)</a:t>
            </a:r>
          </a:p>
          <a:p>
            <a:r>
              <a:rPr sz="1300">
                <a:latin typeface="Calibri"/>
              </a:rPr>
              <a:t>- 3 tables Cassandra, chacune dédiée à une requête métier</a:t>
            </a:r>
          </a:p>
          <a:p>
            <a:r>
              <a:rPr sz="1300">
                <a:latin typeface="Calibri"/>
              </a:rPr>
              <a:t>- 100 lignes par BatchStatement (compromis perf / mémoire)</a:t>
            </a:r>
          </a:p>
          <a:p>
            <a:r>
              <a:rPr sz="1300">
                <a:latin typeface="Calibri"/>
              </a:rPr>
              <a:t>- 1 seule commande pour tout démarrer</a:t>
            </a:r>
          </a:p>
          <a:p/>
          <a:p>
            <a:r>
              <a:rPr sz="1300">
                <a:latin typeface="Calibri"/>
              </a:rPr>
              <a:t>Côté qualitatif, 4 points forts à retenir :</a:t>
            </a:r>
          </a:p>
          <a:p/>
          <a:p>
            <a:r>
              <a:rPr sz="1300">
                <a:latin typeface="Calibri"/>
              </a:rPr>
              <a:t>- Latence en millisecondes — toute requête principale = 1 partition</a:t>
            </a:r>
          </a:p>
          <a:p>
            <a:r>
              <a:rPr sz="1300">
                <a:latin typeface="Calibri"/>
              </a:rPr>
              <a:t>- Débit d'écriture élevé grâce aux PreparedStatement (la requête CQL est compilée une seule fois côté Cassandra)</a:t>
            </a:r>
          </a:p>
          <a:p>
            <a:r>
              <a:rPr sz="1300">
                <a:latin typeface="Calibri"/>
              </a:rPr>
              <a:t>- Découplage stockage/calcul — on peut détruire Cassandra et la reconstruire depuis S3</a:t>
            </a:r>
          </a:p>
          <a:p>
            <a:r>
              <a:rPr sz="1300">
                <a:latin typeface="Calibri"/>
              </a:rPr>
              <a:t>- 100% open source : zéro coût de licence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Honnêteté technique (1 min 30) :</a:t>
            </a:r>
          </a:p>
          <a:p/>
          <a:p>
            <a:r>
              <a:rPr sz="1300">
                <a:latin typeface="Calibri"/>
              </a:rPr>
              <a:t>Le jury va apprécier de voir qu'on connaît les LIMITES de ce qu'on livre.</a:t>
            </a:r>
          </a:p>
          <a:p/>
          <a:p>
            <a:r>
              <a:rPr sz="1300">
                <a:latin typeface="Calibri"/>
              </a:rPr>
              <a:t>À GAUCHE — ce qui est démontré :</a:t>
            </a:r>
          </a:p>
          <a:p>
            <a:r>
              <a:rPr sz="1300">
                <a:latin typeface="Calibri"/>
              </a:rPr>
              <a:t>Toute la chaîne fonctionne, la modélisation est rigoureuse, la conteneurisation est propre.</a:t>
            </a:r>
          </a:p>
          <a:p/>
          <a:p>
            <a:r>
              <a:rPr sz="1300">
                <a:latin typeface="Calibri"/>
              </a:rPr>
              <a:t>À DROITE — ce qui manque honnêtement :</a:t>
            </a:r>
          </a:p>
          <a:p/>
          <a:p>
            <a:r>
              <a:rPr sz="1300">
                <a:latin typeface="Calibri"/>
              </a:rPr>
              <a:t>1) MONO-NŒUD : avec un seul nœud Cassandra, je ne peux pas DÉMONTRER concrètement la tolérance aux pannes. Il faudrait un cluster à 3 nœuds.</a:t>
            </a:r>
          </a:p>
          <a:p/>
          <a:p>
            <a:r>
              <a:rPr sz="1300">
                <a:latin typeface="Calibri"/>
              </a:rPr>
              <a:t>2) BATCH ONLY : pas de Kafka, pas de streaming.</a:t>
            </a:r>
          </a:p>
          <a:p/>
          <a:p>
            <a:r>
              <a:rPr sz="1300">
                <a:latin typeface="Calibri"/>
              </a:rPr>
              <a:t>3) PAS DE SPARK : pour des agrégations cross-partitions (ex: total des ventes mondiales par produit), il faut un moteur dédié.</a:t>
            </a:r>
          </a:p>
          <a:p/>
          <a:p>
            <a:r>
              <a:rPr sz="1300">
                <a:latin typeface="Calibri"/>
              </a:rPr>
              <a:t>4) BATCHS MULTI-PARTITIONS : techniquement, mes BatchStatement peuvent toucher plusieurs partitions en un envoi → mauvaise pratique Cassandra (pression sur le coordinateur). Correction prévue.</a:t>
            </a:r>
          </a:p>
          <a:p/>
          <a:p>
            <a:r>
              <a:rPr sz="1300">
                <a:latin typeface="Calibri"/>
              </a:rPr>
              <a:t>5) SÉCURITÉ : auth Cassandra désactivée, identifiants MinIO par défaut. OK pour un dev, à durcir en prod (slide suivante).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Sécurité + RGPD (1 min 30) :</a:t>
            </a:r>
          </a:p>
          <a:p/>
          <a:p>
            <a:r>
              <a:rPr sz="1300">
                <a:latin typeface="Calibri"/>
              </a:rPr>
              <a:t>Pour la SÉCURITÉ, en production :</a:t>
            </a:r>
          </a:p>
          <a:p>
            <a:r>
              <a:rPr sz="1300">
                <a:latin typeface="Calibri"/>
              </a:rPr>
              <a:t>- Authentification Cassandra avec PasswordAuthenticator + CassandraAuthorizer, compte applicatif aux droits restreints</a:t>
            </a:r>
          </a:p>
          <a:p>
            <a:r>
              <a:rPr sz="1300">
                <a:latin typeface="Calibri"/>
              </a:rPr>
              <a:t>- TLS partout : client→cluster ET inter-nœuds</a:t>
            </a:r>
          </a:p>
          <a:p>
            <a:r>
              <a:rPr sz="1300">
                <a:latin typeface="Calibri"/>
              </a:rPr>
              <a:t>- Rotation des credentials MinIO via Docker secrets ou un vault</a:t>
            </a:r>
          </a:p>
          <a:p>
            <a:r>
              <a:rPr sz="1300">
                <a:latin typeface="Calibri"/>
              </a:rPr>
              <a:t>- Réseau Docker dédié, ports non exposés à l'extérieur</a:t>
            </a:r>
          </a:p>
          <a:p/>
          <a:p>
            <a:r>
              <a:rPr sz="1300">
                <a:latin typeface="Calibri"/>
              </a:rPr>
              <a:t>Pour le RGPD, point sensible avec des données client :</a:t>
            </a:r>
          </a:p>
          <a:p/>
          <a:p>
            <a:r>
              <a:rPr sz="1300">
                <a:latin typeface="Calibri"/>
              </a:rPr>
              <a:t>MINIMISATION — ne pas stocker plus que nécessaire. customer_id en texte libre aujourd'hui → pseudonymisé en prod.</a:t>
            </a:r>
          </a:p>
          <a:p/>
          <a:p>
            <a:r>
              <a:rPr sz="1300">
                <a:latin typeface="Calibri"/>
              </a:rPr>
              <a:t>DROIT À L'EFFACEMENT — point délicat dans Cassandra : un DELETE crée un 'tombstone' qui ralentit les lectures. Meilleure pratique : TTL (Time To Live) sur les lignes contenant des PII, ou séparer dans une table dédiée plus facile à purger.</a:t>
            </a:r>
          </a:p>
          <a:p/>
          <a:p>
            <a:r>
              <a:rPr sz="1300">
                <a:latin typeface="Calibri"/>
              </a:rPr>
              <a:t>LOCALISATION — NetworkTopologyStrategy permet de garantir que les données UE restent sur des nœuds européens.</a:t>
            </a:r>
          </a:p>
          <a:p/>
          <a:p>
            <a:r>
              <a:rPr sz="1300">
                <a:latin typeface="Calibri"/>
              </a:rPr>
              <a:t>TRAÇABILITÉ — audit logs des deux côtés (Cassandra + S3).</a:t>
            </a:r>
          </a:p>
          <a:p/>
          <a:p>
            <a:r>
              <a:rPr sz="1300">
                <a:latin typeface="Calibri"/>
              </a:rPr>
              <a:t>CHIFFREMENT — SSE-S3 ou SSE-KMS côté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Perspectives (1 min) :</a:t>
            </a:r>
          </a:p>
          <a:p/>
          <a:p>
            <a:r>
              <a:rPr sz="1300">
                <a:latin typeface="Calibri"/>
              </a:rPr>
              <a:t>Quatre axes d'évolution naturels, par ordre de priorité :</a:t>
            </a:r>
          </a:p>
          <a:p/>
          <a:p>
            <a:r>
              <a:rPr sz="1300">
                <a:latin typeface="Calibri"/>
              </a:rPr>
              <a:t>1) CLUSTER 3 NŒUDS — c'est la première chose à faire. RF=3 avec NetworkTopologyStrategy, et là on démontre VRAIMENT la tolérance aux pannes : on peut tuer un nœud sans interruption de service.</a:t>
            </a:r>
          </a:p>
          <a:p/>
          <a:p>
            <a:r>
              <a:rPr sz="1300">
                <a:latin typeface="Calibri"/>
              </a:rPr>
              <a:t>2) STREAMING KAFKA — pour les cas d'usage temps réel (clics, IoT). On ajoute un broker entre les sources et l'ingestor, qui devient un consommateur Kafka. Le modèle Cassandra ne change pas.</a:t>
            </a:r>
          </a:p>
          <a:p/>
          <a:p>
            <a:r>
              <a:rPr sz="1300">
                <a:latin typeface="Calibri"/>
              </a:rPr>
              <a:t>3) SPARK / TRINO — dès qu'on a besoin de croiser plusieurs tables ou d'agréger sur l'ensemble du dataset. Spark peut lire directement depuis Cassandra ET depuis S3.</a:t>
            </a:r>
          </a:p>
          <a:p/>
          <a:p>
            <a:r>
              <a:rPr sz="1300">
                <a:latin typeface="Calibri"/>
              </a:rPr>
              <a:t>4) OBSERVABILITÉ — Prometheus pour les métriques, Grafana pour la visualisation. Indispensable en prod pour suivre la latence p99, le débit, l'état du cluster.</a:t>
            </a:r>
          </a:p>
          <a:p/>
          <a:p>
            <a:r>
              <a:rPr sz="1300">
                <a:latin typeface="Calibri"/>
              </a:rPr>
              <a:t>Bonus si questions : Airflow pour orchestrer des pipelines périodiques, dbt sur Trino pour les transformations,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>
                <a:latin typeface="Calibri"/>
              </a:rPr>
              <a:t>Conclusion (45 sec) — message à retenir par le jury :</a:t>
            </a:r>
          </a:p>
          <a:p/>
          <a:p>
            <a:r>
              <a:rPr sz="1300">
                <a:latin typeface="Calibri"/>
              </a:rPr>
              <a:t>Le projet livre concrètement les 4 piliers demandés :</a:t>
            </a:r>
          </a:p>
          <a:p>
            <a:r>
              <a:rPr sz="1300">
                <a:latin typeface="Calibri"/>
              </a:rPr>
              <a:t>ingestion, stockage distribué, Data Lake, conteneurisation.</a:t>
            </a:r>
          </a:p>
          <a:p/>
          <a:p>
            <a:r>
              <a:rPr sz="1300">
                <a:latin typeface="Calibri"/>
              </a:rPr>
              <a:t>Chaque choix technique est étayé par les concepts du Big Data — 5V, théorème CAP, scalabilité horizontale — et pas seulement par 'parce que c'est moderne'.</a:t>
            </a:r>
          </a:p>
          <a:p/>
          <a:p>
            <a:r>
              <a:rPr sz="1300">
                <a:latin typeface="Calibri"/>
              </a:rPr>
              <a:t>Au-delà du périmètre demandé, c'est un SOCLE évolutif vers la production : ajout d'un cluster multi-DC, passage au streaming, couche analytique. La fondation tient.</a:t>
            </a:r>
          </a:p>
          <a:p/>
          <a:p>
            <a:r>
              <a:rPr sz="1300">
                <a:latin typeface="Calibri"/>
              </a:rPr>
              <a:t>PRÉPARER LES QUESTIONS PROBABLES :</a:t>
            </a:r>
          </a:p>
          <a:p/>
          <a:p>
            <a:r>
              <a:rPr sz="1300">
                <a:latin typeface="Calibri"/>
              </a:rPr>
              <a:t>Q: Pourquoi pas MongoDB ? → CP, latence moins prédictible sur des requêtes multi-partitions, modèle document plus souple mais moins adapté à des requêtes analytiques avec ORDER BY natif.</a:t>
            </a:r>
          </a:p>
          <a:p/>
          <a:p>
            <a:r>
              <a:rPr sz="1300">
                <a:latin typeface="Calibri"/>
              </a:rPr>
              <a:t>Q: Pourquoi pas Elasticsearch ? → orienté recherche full-text, pas un stockage primaire. Bon en complément, pas en remplacement.</a:t>
            </a:r>
          </a:p>
          <a:p/>
          <a:p>
            <a:r>
              <a:rPr sz="1300">
                <a:latin typeface="Calibri"/>
              </a:rPr>
              <a:t>Q: Si je veux faire un GROUP BY sur toute la base ? → pas Cassandra, utiliser Spark qui lit la base.</a:t>
            </a:r>
          </a:p>
          <a:p/>
          <a:p>
            <a:r>
              <a:rPr sz="1300">
                <a:latin typeface="Calibri"/>
              </a:rPr>
              <a:t>Q: Pourquoi 100 lignes par batch ? → équilibre empirique. Trop petit = overhead réseau ; trop grand = risque timeout coordinateur Cassandra (limite par défaut ~50 ko).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7322"/>
                </a:solidFill>
                <a:latin typeface="Calibri"/>
              </a:rPr>
              <a:t>PROJET BIG DATA — M1 BIG DATA IA —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Plateforme distribuée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d'ingestion et d'analyse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90E2"/>
                </a:solidFill>
                <a:latin typeface="Calibri"/>
              </a:rPr>
              <a:t>Cassandra · MinIO (S3) ·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GUINDON Amaury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0CEDC"/>
                </a:solidFill>
                <a:latin typeface="Calibri"/>
              </a:rPr>
              <a:t>École Supérieure du Numérique 89 — Soutenance orale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28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231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Objectifs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17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Architecture globale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Flux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206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Choix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00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Modèle Cassandra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288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828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Principes Big Data — 5V &amp;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231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Démonstration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175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017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Performances &amp; limites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6118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611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Sécurité &amp; RGPD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2062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206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Pistes d'évolution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8006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E67322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800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01 /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B8C"/>
                </a:solidFill>
                <a:latin typeface="Calibri"/>
              </a:rPr>
              <a:t>Une entreprise souhaite mettre en place une plateforme capable de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097280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 b="1">
                <a:solidFill>
                  <a:srgbClr val="2C3E50"/>
                </a:solidFill>
                <a:latin typeface="Calibri"/>
              </a:rPr>
              <a:t>Collecter</a:t>
            </a:r>
            <a:r>
              <a:rPr sz="1800">
                <a:solidFill>
                  <a:srgbClr val="1A1A1A"/>
                </a:solidFill>
                <a:latin typeface="Calibri"/>
              </a:rPr>
              <a:t> — des événements hétérogènes — transactions, catalogue produits, contenus multimédia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 b="1">
                <a:solidFill>
                  <a:srgbClr val="2C3E50"/>
                </a:solidFill>
                <a:latin typeface="Calibri"/>
              </a:rPr>
              <a:t>Stocker</a:t>
            </a:r>
            <a:r>
              <a:rPr sz="1800">
                <a:solidFill>
                  <a:srgbClr val="1A1A1A"/>
                </a:solidFill>
                <a:latin typeface="Calibri"/>
              </a:rPr>
              <a:t> — ces données de manière scalable, sans limite haute prévisible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 b="1">
                <a:solidFill>
                  <a:srgbClr val="2C3E50"/>
                </a:solidFill>
                <a:latin typeface="Calibri"/>
              </a:rPr>
              <a:t>Interroger</a:t>
            </a:r>
            <a:r>
              <a:rPr sz="1800">
                <a:solidFill>
                  <a:srgbClr val="1A1A1A"/>
                </a:solidFill>
                <a:latin typeface="Calibri"/>
              </a:rPr>
              <a:t> — rapidement, sur des dimensions métier (pays, marque, catégorie)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 b="1">
                <a:solidFill>
                  <a:srgbClr val="2C3E50"/>
                </a:solidFill>
                <a:latin typeface="Calibri"/>
              </a:rPr>
              <a:t>Garantir</a:t>
            </a:r>
            <a:r>
              <a:rPr sz="1800">
                <a:solidFill>
                  <a:srgbClr val="1A1A1A"/>
                </a:solidFill>
                <a:latin typeface="Calibri"/>
              </a:rPr>
              <a:t> — la disponibilité même en cas de panne d'un nœud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 b="1">
                <a:solidFill>
                  <a:srgbClr val="2C3E50"/>
                </a:solidFill>
                <a:latin typeface="Calibri"/>
              </a:rPr>
              <a:t>Déployer</a:t>
            </a:r>
            <a:r>
              <a:rPr sz="1800">
                <a:solidFill>
                  <a:srgbClr val="1A1A1A"/>
                </a:solidFill>
                <a:latin typeface="Calibri"/>
              </a:rPr>
              <a:t> — de façon reproductible sur n'importe quel environnement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02 /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Objectifs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6060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606040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A90E2"/>
                </a:solidFill>
                <a:latin typeface="Calibr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cohérente, distribuée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et documentée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828800"/>
            <a:ext cx="26060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828800"/>
            <a:ext cx="2606040" cy="109728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1488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7322"/>
                </a:solidFill>
                <a:latin typeface="Calibri"/>
              </a:rPr>
              <a:t>Modèle Cassandra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74320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orienté requêtes,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partition/clustering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44184" y="1828800"/>
            <a:ext cx="26060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44184" y="1828800"/>
            <a:ext cx="2606040" cy="109728"/>
          </a:xfrm>
          <a:prstGeom prst="rect">
            <a:avLst/>
          </a:prstGeom>
          <a:solidFill>
            <a:srgbClr val="7AC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21488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AC74F"/>
                </a:solidFill>
                <a:latin typeface="Calibri"/>
              </a:rPr>
              <a:t>Stockage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74320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Data Lake S3-compatible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(MinIO local + AWS)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14816" y="1828800"/>
            <a:ext cx="26060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14816" y="1828800"/>
            <a:ext cx="2606040" cy="109728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21488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Déploiement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2743200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Docker reproductible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en une commande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B7B8C"/>
                </a:solidFill>
                <a:latin typeface="Calibri"/>
              </a:rPr>
              <a:t>+ Argumentation Big Data ancrée dans les principes 5V &amp; CAP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Architecture globale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pic>
        <p:nvPicPr>
          <p:cNvPr id="9" name="Picture 8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581" y="1463040"/>
            <a:ext cx="7010532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B7B8C"/>
                </a:solidFill>
                <a:latin typeface="Calibri"/>
              </a:rPr>
              <a:t>Pipeline Python → écriture Cassandra (chaud) + Data Lake MinIO (froid) — orchestré par 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04 / FLUX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Flux d'ingestion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pic>
        <p:nvPicPr>
          <p:cNvPr id="9" name="Picture 8" descr="02_flux_don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21" y="1737360"/>
            <a:ext cx="6641253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120640"/>
            <a:ext cx="105156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Pipeline one-shot, écrit en Python — convient au MVP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Insertions Cassandra par batch de 100 lignes (BatchStatement)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Évolutif vers un consommateur Kafka pour le quasi-temps réel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05 / CHOIX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Stack &amp; choix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6974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697480" cy="64008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Apache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Cassandra 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A90E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NoSQL distribué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A90E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Scalabilité linéaire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A90E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Modèle AP (CAP)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A90E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Requêtes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6974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697480" cy="640080"/>
          </a:xfrm>
          <a:prstGeom prst="rect">
            <a:avLst/>
          </a:prstGeom>
          <a:solidFill>
            <a:srgbClr val="7AC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8745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MinIO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(S3-compatible)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7AC74F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Stockage objet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7AC74F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Sépare stockage/calcul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7AC74F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Bascule AWS S3 sans modif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7AC74F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Open source, gratuit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828800"/>
            <a:ext cx="26974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2697480" cy="64008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Python 3.11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(cassandra-driver, boto3)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6732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Écosystème mature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6732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Drivers officiels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6732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Lisible &amp; maintenable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67322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Job batch idéal pour MVP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828800"/>
            <a:ext cx="26974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828800"/>
            <a:ext cx="2697480" cy="6400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8745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Docker +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C3E50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Reproductibilité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C3E50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Healthchecks intégrés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C3E50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Volumes persistants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C3E50"/>
                </a:solidFill>
              </a:rPr>
              <a:t>• </a:t>
            </a:r>
            <a:r>
              <a:rPr sz="1300">
                <a:solidFill>
                  <a:srgbClr val="1A1A1A"/>
                </a:solidFill>
              </a:rPr>
              <a:t>Démarrage ordonné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06 / MODÈLE CASSANDRA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Modélisation orientée requêtes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8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pic>
        <p:nvPicPr>
          <p:cNvPr id="9" name="Picture 8" descr="03_modele_cassand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254" y="1463040"/>
            <a:ext cx="6011186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577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1">
                <a:solidFill>
                  <a:srgbClr val="6B7B8C"/>
                </a:solidFill>
                <a:latin typeface="Calibri"/>
              </a:rPr>
              <a:t>Une table = une requête   •   PK composite pour répartir   •   CK pour ordonner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6B7B8C"/>
                </a:solidFill>
                <a:latin typeface="Calibri"/>
              </a:rPr>
              <a:t>Keyspace bigdata_project — SimpleStrategy{1} en dev, NetworkTopologyStrategy{3,3} en prod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06 / MODÈLE CASSANDRA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Exemple : requête analytique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9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B8C"/>
                </a:solidFill>
                <a:latin typeface="Calibri"/>
              </a:rPr>
              <a:t>Requête : ventes du Royaume-Uni en décembre 2010, triées par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11155680" cy="2286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10789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onsolas"/>
              </a:rPr>
              <a:t>SELECT invoice_date, invoice_no, stock_code,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Consolas"/>
              </a:rPr>
              <a:t>       quantity, unit_price, total_amount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Consolas"/>
              </a:rPr>
              <a:t>FROM sales_by_country_month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Consolas"/>
              </a:rPr>
              <a:t>WHERE country = 'United Kingdom'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Consolas"/>
              </a:rPr>
              <a:t>  AND year_month = '2010-12'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Consolas"/>
              </a:rPr>
              <a:t>LIMIT 20;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109728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67322"/>
                </a:solidFill>
                <a:latin typeface="Calibri"/>
              </a:rPr>
              <a:t>▸ </a:t>
            </a:r>
            <a:r>
              <a:rPr sz="1600" b="1">
                <a:solidFill>
                  <a:srgbClr val="2C3E50"/>
                </a:solidFill>
                <a:latin typeface="Calibri"/>
              </a:rPr>
              <a:t>PK ciblée</a:t>
            </a:r>
            <a:r>
              <a:rPr sz="1600">
                <a:solidFill>
                  <a:srgbClr val="1A1A1A"/>
                </a:solidFill>
                <a:latin typeface="Calibri"/>
              </a:rPr>
              <a:t> — la requête atteint une seule partition → latence ~ ms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67322"/>
                </a:solidFill>
                <a:latin typeface="Calibri"/>
              </a:rPr>
              <a:t>▸ </a:t>
            </a:r>
            <a:r>
              <a:rPr sz="1600" b="1">
                <a:solidFill>
                  <a:srgbClr val="2C3E50"/>
                </a:solidFill>
                <a:latin typeface="Calibri"/>
              </a:rPr>
              <a:t>Tri natif</a:t>
            </a:r>
            <a:r>
              <a:rPr sz="1600">
                <a:solidFill>
                  <a:srgbClr val="1A1A1A"/>
                </a:solidFill>
                <a:latin typeface="Calibri"/>
              </a:rPr>
              <a:t> — CLUSTERING ORDER BY invoice_date DESC, pas de tri applicatif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67322"/>
                </a:solidFill>
                <a:latin typeface="Calibri"/>
              </a:rPr>
              <a:t>▸ </a:t>
            </a:r>
            <a:r>
              <a:rPr sz="1600" b="1">
                <a:solidFill>
                  <a:srgbClr val="2C3E50"/>
                </a:solidFill>
                <a:latin typeface="Calibri"/>
              </a:rPr>
              <a:t>Constant</a:t>
            </a:r>
            <a:r>
              <a:rPr sz="1600">
                <a:solidFill>
                  <a:srgbClr val="1A1A1A"/>
                </a:solidFill>
                <a:latin typeface="Calibri"/>
              </a:rPr>
              <a:t> — le coût ne dépend pas du volume total de la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07 /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Les 5V appliqués au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10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94560"/>
            <a:ext cx="219456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94560"/>
            <a:ext cx="2194560" cy="109728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920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Cassandra + S3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dimensionnés To+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5768" y="2194560"/>
            <a:ext cx="219456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8" y="2194560"/>
            <a:ext cx="2194560" cy="109728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23774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VÉLOCITÉ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474720"/>
            <a:ext cx="1920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Batch 100 lignes,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évolutif vers Kafka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2194560"/>
            <a:ext cx="219456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0056" y="2194560"/>
            <a:ext cx="2194560" cy="1097280"/>
          </a:xfrm>
          <a:prstGeom prst="rect">
            <a:avLst/>
          </a:prstGeom>
          <a:solidFill>
            <a:srgbClr val="7AC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6" y="23774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VARIÉTÉ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3474720"/>
            <a:ext cx="1920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CSV · JSON · JPG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3 pipelines dédiés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4344" y="2194560"/>
            <a:ext cx="219456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24344" y="2194560"/>
            <a:ext cx="2194560" cy="10972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23774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VÉRACITÉ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474720"/>
            <a:ext cx="1920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Parsing défensif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+ raw zone S3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8632" y="2194560"/>
            <a:ext cx="219456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28632" y="2194560"/>
            <a:ext cx="219456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632" y="23774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VALEUR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3474720"/>
            <a:ext cx="1920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Tables orientées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requêtes métier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07 /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Théorème CAP — pourquoi Cassandra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pic>
        <p:nvPicPr>
          <p:cNvPr id="9" name="Picture 8" descr="04_cap_theo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039162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17373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4A90E2"/>
                </a:solidFill>
                <a:latin typeface="Calibri"/>
              </a:rPr>
              <a:t>Cassandra = 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3035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Availability</a:t>
            </a:r>
            <a:r>
              <a:rPr sz="1500">
                <a:solidFill>
                  <a:srgbClr val="1A1A1A"/>
                </a:solidFill>
                <a:latin typeface="Calibri"/>
              </a:rPr>
              <a:t> — le service écrit/lit même en cas de partition réseau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Partition tolerance</a:t>
            </a:r>
            <a:r>
              <a:rPr sz="1500">
                <a:solidFill>
                  <a:srgbClr val="1A1A1A"/>
                </a:solidFill>
                <a:latin typeface="Calibri"/>
              </a:rPr>
              <a:t> — natif dans tout système distribué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Consistency</a:t>
            </a:r>
            <a:r>
              <a:rPr sz="1500">
                <a:solidFill>
                  <a:srgbClr val="1A1A1A"/>
                </a:solidFill>
                <a:latin typeface="Calibri"/>
              </a:rPr>
              <a:t> — éventuelle, réglable par requête (ONE / QUORUM / ALL)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Cas d'usage</a:t>
            </a:r>
            <a:r>
              <a:rPr sz="1500">
                <a:solidFill>
                  <a:srgbClr val="1A1A1A"/>
                </a:solidFill>
                <a:latin typeface="Calibri"/>
              </a:rPr>
              <a:t> — préférable à un downtime pour un service de collecte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08 /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Démonstration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12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B8C"/>
                </a:solidFill>
                <a:latin typeface="Calibri"/>
              </a:rPr>
              <a:t>Déroulé live (≈ 3 min)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11155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67322"/>
                </a:solidFill>
                <a:latin typeface="Calibri"/>
              </a:rPr>
              <a:t>1. Lancer la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8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docker compose up --build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9232"/>
            <a:ext cx="11155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44952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67322"/>
                </a:solidFill>
                <a:latin typeface="Calibri"/>
              </a:rPr>
              <a:t>2. Suivre l'ingestion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4495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logs ingestor : raw uploads → batch Cassandra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03904"/>
            <a:ext cx="11155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49624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67322"/>
                </a:solidFill>
                <a:latin typeface="Calibri"/>
              </a:rPr>
              <a:t>3. Vérifier Cassandra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849624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docker exec -it bd_cassandra cqlsh + SELECT COUNT(*)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08576"/>
            <a:ext cx="11155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54296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67322"/>
                </a:solidFill>
                <a:latin typeface="Calibri"/>
              </a:rPr>
              <a:t>4. Exécuter une requête métier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654296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SELECT … WHERE country='United Kingdom' AND year_month='2010-12'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13248"/>
            <a:ext cx="111556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58968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67322"/>
                </a:solidFill>
                <a:latin typeface="Calibri"/>
              </a:rPr>
              <a:t>5. Vérifier le Data 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458968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console MinIO http://localhost:9001 — bucket bigdata-raw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09 / PERFORMANCES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Ce que mesure le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13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517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651760" cy="109728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4A90E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familles de données</a:t>
            </a:r>
          </a:p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(structuré / semi / non)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6517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651760" cy="109728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1488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E673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520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tables Cassandra</a:t>
            </a:r>
          </a:p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orientées requêtes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6517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2651760" cy="109728"/>
          </a:xfrm>
          <a:prstGeom prst="rect">
            <a:avLst/>
          </a:prstGeom>
          <a:solidFill>
            <a:srgbClr val="7AC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1488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7AC74F"/>
                </a:solidFill>
                <a:latin typeface="Calibri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520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lignes / batch</a:t>
            </a:r>
          </a:p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(BatchStatement)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828800"/>
            <a:ext cx="26517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828800"/>
            <a:ext cx="2651760" cy="109728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1488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520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commande pour</a:t>
            </a:r>
          </a:p>
          <a:p>
            <a:pPr algn="ctr"/>
            <a:r>
              <a:rPr sz="1200" b="0" i="0">
                <a:solidFill>
                  <a:srgbClr val="6B7B8C"/>
                </a:solidFill>
                <a:latin typeface="Calibri"/>
              </a:rPr>
              <a:t>tout déployer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Points forts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Latence ms — toute requête principale tape une seule partition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Débit d'écriture élevé — batchs préparés (PreparedStatement)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Découplage stockage / calcul — retraitement complet depuis la raw zone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Stack 100 % open source — coût nul, reproductibilité totale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09 / ANALYSE CRITIQUE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Limites &amp; analyse critique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14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4864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00" cy="548640"/>
          </a:xfrm>
          <a:prstGeom prst="rect">
            <a:avLst/>
          </a:prstGeom>
          <a:solidFill>
            <a:srgbClr val="7AC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  Ce qui est démontré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5120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67322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Modélisation orientée requêtes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67322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Réplication paramétrable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67322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Conteneurisation reproductible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67322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Trois familles de données ingérées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67322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Raw zone + couche chaude séparées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54864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48640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△  Ce qui reste à faire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5120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Mono-nœud Cassandra (RF=1)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Pas de streaming temps réel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Pas de couche analytique (Spark)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Batch parfois multi-partitions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Sécurité non activée (dev)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10 / ENJEUX TRANSVERSES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Sécurité &amp; RGPD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15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A90E2"/>
                </a:solidFill>
                <a:latin typeface="Calibri"/>
              </a:rPr>
              <a:t>Sécurité — à activer en 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4864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Authentification Cassandra (PasswordAuthenticator)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TLS client → cluster + inter-nœuds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Rotation des credentials MinIO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Isolation réseau Docker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Audit logs centralisés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67322"/>
                </a:solidFill>
                <a:latin typeface="Calibri"/>
              </a:rPr>
              <a:t>RGPD — principes appliqués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4864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Minimisation</a:t>
            </a:r>
            <a:r>
              <a:rPr sz="1500">
                <a:solidFill>
                  <a:srgbClr val="1A1A1A"/>
                </a:solidFill>
                <a:latin typeface="Calibri"/>
              </a:rPr>
              <a:t> — ne stocker que les champs nécessaires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Effacement</a:t>
            </a:r>
            <a:r>
              <a:rPr sz="1500">
                <a:solidFill>
                  <a:srgbClr val="1A1A1A"/>
                </a:solidFill>
                <a:latin typeface="Calibri"/>
              </a:rPr>
              <a:t> — TTL plutôt que DELETE (tombstones)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Localisation</a:t>
            </a:r>
            <a:r>
              <a:rPr sz="1500">
                <a:solidFill>
                  <a:srgbClr val="1A1A1A"/>
                </a:solidFill>
                <a:latin typeface="Calibri"/>
              </a:rPr>
              <a:t> — NetworkTopologyStrategy = DC EU/US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Traçabilité</a:t>
            </a:r>
            <a:r>
              <a:rPr sz="1500">
                <a:solidFill>
                  <a:srgbClr val="1A1A1A"/>
                </a:solidFill>
                <a:latin typeface="Calibri"/>
              </a:rPr>
              <a:t> — audit logs Cassandra + S3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67322"/>
                </a:solidFill>
                <a:latin typeface="Calibri"/>
              </a:rPr>
              <a:t>▸ </a:t>
            </a:r>
            <a:r>
              <a:rPr sz="1500" b="1">
                <a:solidFill>
                  <a:srgbClr val="2C3E50"/>
                </a:solidFill>
                <a:latin typeface="Calibri"/>
              </a:rPr>
              <a:t>Chiffrement</a:t>
            </a:r>
            <a:r>
              <a:rPr sz="1500">
                <a:solidFill>
                  <a:srgbClr val="1A1A1A"/>
                </a:solidFill>
                <a:latin typeface="Calibri"/>
              </a:rPr>
              <a:t> — SSE sur le bucket S3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7322"/>
                </a:solidFill>
                <a:latin typeface="Calibri"/>
              </a:rPr>
              <a:t>11 / ÉVOLUTIONS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C3E50"/>
                </a:solidFill>
                <a:latin typeface="Calibri"/>
              </a:rPr>
              <a:t>Pistes d'évolution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20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B8C"/>
                </a:solidFill>
                <a:latin typeface="Calibri"/>
              </a:rPr>
              <a:t>16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B8C"/>
                </a:solidFill>
                <a:latin typeface="Calibri"/>
              </a:rPr>
              <a:t>Projet Big Data — M1 BDIA — A. Guindon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1556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64592" cy="960120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A90E2"/>
                </a:solidFill>
                <a:latin typeface="Calibri"/>
              </a:rPr>
              <a:t>Cluster 3 nœuds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NetworkTopologyStrategy, RF=3, démonstration concrète de la tolérance aux pannes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111556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164592" cy="96012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67322"/>
                </a:solidFill>
                <a:latin typeface="Calibri"/>
              </a:rPr>
              <a:t>Streaming 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Remplacer le job batch par un consommateur temps réel — sans modifier le modèle Cassandra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111556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164592" cy="960120"/>
          </a:xfrm>
          <a:prstGeom prst="rect">
            <a:avLst/>
          </a:prstGeom>
          <a:solidFill>
            <a:srgbClr val="7AC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416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7AC74F"/>
                </a:solidFill>
                <a:latin typeface="Calibri"/>
              </a:rPr>
              <a:t>Couche Spark / Trino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Agrégations cross-partitions, jointures, exports vers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83480"/>
            <a:ext cx="111556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983480"/>
            <a:ext cx="164592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932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Observabilité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Prometheus + Grafana — latence, débit, état du cluster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7322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Une plateforme Big Data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fonctionnelle et reproductible.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Ingestion · stockage distribué · Data Lake · conteneurisation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Choix justifiés par les principes structurants du Big Data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67322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Socle réutilisable, évolutif vers la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4A90E2"/>
                </a:solidFill>
                <a:latin typeface="Calibri"/>
              </a:rPr>
              <a:t>Merci pour votre attention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